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1247120" cy="1463040"/>
          </a:xfrm>
          <a:prstGeom prst="rect">
            <a:avLst/>
          </a:prstGeom>
          <a:solidFill>
            <a:srgbClr val="1E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0B4D8"/>
                </a:solidFill>
                <a:latin typeface="Calibri"/>
              </a:rPr>
              <a:t>Playlist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0C4DE"/>
                </a:solidFill>
                <a:latin typeface="Calibri"/>
              </a:rPr>
              <a:t>Using Doubly Linked List  |  C++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108960"/>
            <a:ext cx="201168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31272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Data Structures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3108960"/>
            <a:ext cx="2011680" cy="41148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44368" y="31272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C++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3108960"/>
            <a:ext cx="2011680" cy="4114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0368" y="31272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DSA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490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  <a:latin typeface="Calibri"/>
              </a:rPr>
              <a:t>Implemented with head / tail / current pointers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217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github.com | C++ | DSA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  <a:latin typeface="Calibri"/>
              </a:rPr>
              <a:t>What is a Doubly Linked List?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C4DE"/>
                </a:solidFill>
                <a:latin typeface="Calibri"/>
              </a:rPr>
              <a:t>Each node stores data + a pointer to the NEXT node + a pointer to the PREV node.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1828800" cy="82296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10512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Calibri"/>
              </a:rPr>
              <a:t>head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8CAE4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1737360"/>
            <a:ext cx="1828800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1810512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Calibri"/>
              </a:rPr>
              <a:t>Song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8CAE4"/>
                </a:solidFill>
                <a:latin typeface="Calibr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799" y="24231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4A261"/>
                </a:solidFill>
                <a:latin typeface="Calibri"/>
              </a:rPr>
              <a:t>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737360"/>
            <a:ext cx="1828800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810512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Calibri"/>
              </a:rPr>
              <a:t>Song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8CAE4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4231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4A261"/>
                </a:solidFill>
                <a:latin typeface="Calibri"/>
              </a:rPr>
              <a:t>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1737360"/>
            <a:ext cx="1828800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810512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Calibri"/>
              </a:rPr>
              <a:t>Song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8CAE4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231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4A261"/>
                </a:solidFill>
                <a:latin typeface="Calibri"/>
              </a:rPr>
              <a:t>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1737360"/>
            <a:ext cx="1828800" cy="82296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1810512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Calibri"/>
              </a:rPr>
              <a:t>tail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4231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4A261"/>
                </a:solidFill>
                <a:latin typeface="Calibri"/>
              </a:rPr>
              <a:t>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28346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C4DE"/>
                </a:solidFill>
                <a:latin typeface="Calibri"/>
              </a:rPr>
              <a:t>→  next pointer         ←  prev pointer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383280"/>
            <a:ext cx="11430000" cy="2560320"/>
          </a:xfrm>
          <a:prstGeom prst="rect">
            <a:avLst/>
          </a:prstGeom>
          <a:solidFill>
            <a:srgbClr val="1E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429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Calibri"/>
              </a:rPr>
              <a:t>Why use it for a Playlist Manager?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886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  <a:latin typeface="Calibri"/>
              </a:rPr>
              <a:t>✦  Navigate forward and backward between songs easily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3708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  <a:latin typeface="Calibri"/>
              </a:rPr>
              <a:t>✦  Efficiently insert and delete songs at any position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85546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  <a:latin typeface="Calibri"/>
              </a:rPr>
              <a:t>✦  Maintain a 'current song' pointer for real-time playback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340096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  <a:latin typeface="Calibri"/>
              </a:rPr>
              <a:t>✦  No fixed size — playlist grows and shrinks dynamically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  <a:latin typeface="Calibri"/>
              </a:rPr>
              <a:t>Node Structure &amp; Global Pointers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5303520" cy="3291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8CAE4"/>
                </a:solidFill>
                <a:latin typeface="Consolas"/>
              </a:rPr>
              <a:t>struct Song {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onsolas"/>
              </a:rPr>
              <a:t>    string title;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A261"/>
                </a:solidFill>
                <a:latin typeface="Consolas"/>
              </a:rPr>
              <a:t>    Song* next;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A261"/>
                </a:solidFill>
                <a:latin typeface="Consolas"/>
              </a:rPr>
              <a:t>    Song* prev;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68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8CAE4"/>
                </a:solidFill>
                <a:latin typeface="Consolas"/>
              </a:rPr>
              <a:t>};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C65E"/>
                </a:solidFill>
                <a:latin typeface="Consolas"/>
              </a:rPr>
              <a:t>Song* head    = NULL;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91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C65E"/>
                </a:solidFill>
                <a:latin typeface="Consolas"/>
              </a:rPr>
              <a:t>Song* tail    = NULL;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C65E"/>
                </a:solidFill>
                <a:latin typeface="Consolas"/>
              </a:rPr>
              <a:t>Song* current = NULL;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914400"/>
            <a:ext cx="5760720" cy="3291840"/>
          </a:xfrm>
          <a:prstGeom prst="rect">
            <a:avLst/>
          </a:prstGeom>
          <a:solidFill>
            <a:srgbClr val="1E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  <a:latin typeface="Calibri"/>
              </a:rPr>
              <a:t>What each pointer does: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508760"/>
            <a:ext cx="10972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527048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Consolas"/>
              </a:rPr>
              <a:t>title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152704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Calibri"/>
              </a:rPr>
              <a:t>Stores the song name (string)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938528"/>
            <a:ext cx="1097280" cy="3200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1956815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Consolas"/>
              </a:rPr>
              <a:t>next 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1956815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Calibri"/>
              </a:rPr>
              <a:t>Points to the next song in playlist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368296"/>
            <a:ext cx="1097280" cy="3200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386584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Consolas"/>
              </a:rPr>
              <a:t>prev 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386584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Calibri"/>
              </a:rPr>
              <a:t>Points to the previous song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798063"/>
            <a:ext cx="1097280" cy="32004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6208" y="2816352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Consolas"/>
              </a:rPr>
              <a:t>head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281635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Calibri"/>
              </a:rPr>
              <a:t>Always points to the first song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227832"/>
            <a:ext cx="1097280" cy="32004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3246120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Consolas"/>
              </a:rPr>
              <a:t>tail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2461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Calibri"/>
              </a:rPr>
              <a:t>Always points to the last song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657599"/>
            <a:ext cx="1097280" cy="32004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36208" y="3675887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Consolas"/>
              </a:rPr>
              <a:t>current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3675887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Calibri"/>
              </a:rPr>
              <a:t>Tracks the currently playing song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DC65E"/>
                </a:solidFill>
                <a:latin typeface="Calibri"/>
              </a:rPr>
              <a:t>Algorithm: Add Song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5303520" cy="5303520"/>
          </a:xfrm>
          <a:prstGeom prst="rect">
            <a:avLst/>
          </a:prstGeom>
          <a:solidFill>
            <a:srgbClr val="1E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  <a:latin typeface="Calibri"/>
              </a:rPr>
              <a:t>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Consolas"/>
              </a:rPr>
              <a:t>1.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7393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Consolas"/>
              </a:rPr>
              <a:t>2. Input song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7627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Consolas"/>
              </a:rPr>
              <a:t>3. Create a new Song node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7860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Consolas"/>
              </a:rPr>
              <a:t>4. Set next = NULL, prev = NULL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8094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A261"/>
                </a:solidFill>
                <a:latin typeface="Consolas"/>
              </a:rPr>
              <a:t>5. If playlist is empty: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832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CAE4"/>
                </a:solidFill>
                <a:latin typeface="Consolas"/>
              </a:rPr>
              <a:t>       head = tail = current = 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856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A261"/>
                </a:solidFill>
                <a:latin typeface="Consolas"/>
              </a:rPr>
              <a:t>6. Else: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8795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CAE4"/>
                </a:solidFill>
                <a:latin typeface="Consolas"/>
              </a:rPr>
              <a:t>       tail→next = new node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9028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CAE4"/>
                </a:solidFill>
                <a:latin typeface="Consolas"/>
              </a:rPr>
              <a:t>       new node→prev = tail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9262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CAE4"/>
                </a:solidFill>
                <a:latin typeface="Consolas"/>
              </a:rPr>
              <a:t>       tail = new node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949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Consolas"/>
              </a:rPr>
              <a:t>7. 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914400"/>
            <a:ext cx="5760720" cy="5303520"/>
          </a:xfrm>
          <a:prstGeom prst="rect">
            <a:avLst/>
          </a:prstGeom>
          <a:solidFill>
            <a:srgbClr val="0D1B2A"/>
          </a:solidFill>
          <a:ln w="12700">
            <a:solidFill>
              <a:srgbClr val="2DC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9601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onsolas"/>
              </a:rPr>
              <a:t>// Add Song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13716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CAE4"/>
                </a:solidFill>
                <a:latin typeface="Consolas"/>
              </a:rPr>
              <a:t>void addSong(string name) {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1746504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onsolas"/>
              </a:rPr>
              <a:t>  Song* n = new Song();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12140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onsolas"/>
              </a:rPr>
              <a:t>  n-&gt;title = name;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49631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onsolas"/>
              </a:rPr>
              <a:t>  n-&gt;next = NULL;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871215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onsolas"/>
              </a:rPr>
              <a:t>  n-&gt;prev = NULL;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32461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A261"/>
                </a:solidFill>
                <a:latin typeface="Consolas"/>
              </a:rPr>
              <a:t>  if (head == NULL) {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3621024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CAE4"/>
                </a:solidFill>
                <a:latin typeface="Consolas"/>
              </a:rPr>
              <a:t>    head=tail=current=n;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3995927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A261"/>
                </a:solidFill>
                <a:latin typeface="Consolas"/>
              </a:rPr>
              <a:t>  } else {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4370831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CAE4"/>
                </a:solidFill>
                <a:latin typeface="Consolas"/>
              </a:rPr>
              <a:t>    tail-&gt;next = n;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745736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CAE4"/>
                </a:solidFill>
                <a:latin typeface="Consolas"/>
              </a:rPr>
              <a:t>    n-&gt;prev = tail;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51206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CAE4"/>
                </a:solidFill>
                <a:latin typeface="Consolas"/>
              </a:rPr>
              <a:t>    tail = n;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5495544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A261"/>
                </a:solidFill>
                <a:latin typeface="Consolas"/>
              </a:rPr>
              <a:t>  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587044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CAE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  <a:latin typeface="Calibri"/>
              </a:rPr>
              <a:t>Algorithms: Display | Play | Next | Previous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2743200" cy="5303520"/>
          </a:xfrm>
          <a:prstGeom prst="rect">
            <a:avLst/>
          </a:prstGeom>
          <a:solidFill>
            <a:srgbClr val="1E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274320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93268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Display Playlist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onsolas"/>
              </a:rPr>
              <a:t>Set temp = head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84248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onsolas"/>
              </a:rPr>
              <a:t>If NULL → 'empty'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59736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onsolas"/>
              </a:rPr>
              <a:t>While temp != NULL: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935224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onsolas"/>
              </a:rPr>
              <a:t>  Print title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410712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onsolas"/>
              </a:rPr>
              <a:t>  temp = temp→next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914400"/>
            <a:ext cx="2743200" cy="5303520"/>
          </a:xfrm>
          <a:prstGeom prst="rect">
            <a:avLst/>
          </a:prstGeom>
          <a:solidFill>
            <a:srgbClr val="1E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914400"/>
            <a:ext cx="2743200" cy="5029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93268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Play Current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508760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onsolas"/>
              </a:rPr>
              <a:t>If current != NULL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984248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onsolas"/>
              </a:rPr>
              <a:t>  Print current title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459736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onsolas"/>
              </a:rPr>
              <a:t>Else: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935224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onsolas"/>
              </a:rPr>
              <a:t>  Print 'empty'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914400"/>
            <a:ext cx="2743200" cy="5303520"/>
          </a:xfrm>
          <a:prstGeom prst="rect">
            <a:avLst/>
          </a:prstGeom>
          <a:solidFill>
            <a:srgbClr val="1E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914400"/>
            <a:ext cx="2743200" cy="5029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93268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Next Song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508760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onsolas"/>
              </a:rPr>
              <a:t>If current != NULL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984248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onsolas"/>
              </a:rPr>
              <a:t>  AND next != NULL: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459736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onsolas"/>
              </a:rPr>
              <a:t>  current = current→next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935224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onsolas"/>
              </a:rPr>
              <a:t>  playCurrent()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410712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onsolas"/>
              </a:rPr>
              <a:t>Else: 'No next song'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2560" y="914400"/>
            <a:ext cx="2743200" cy="5303520"/>
          </a:xfrm>
          <a:prstGeom prst="rect">
            <a:avLst/>
          </a:prstGeom>
          <a:solidFill>
            <a:srgbClr val="1E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52560" y="914400"/>
            <a:ext cx="2743200" cy="50292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98280" y="93268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Previous Song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1508760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onsolas"/>
              </a:rPr>
              <a:t>If current != NULL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1984248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onsolas"/>
              </a:rPr>
              <a:t>  AND prev != NULL: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459736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onsolas"/>
              </a:rPr>
              <a:t>  current = current→prev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935224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onsolas"/>
              </a:rPr>
              <a:t>  playCurrent()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410712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onsolas"/>
              </a:rPr>
              <a:t>Else: 'No prev song'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F476F"/>
                </a:solidFill>
                <a:latin typeface="Calibri"/>
              </a:rPr>
              <a:t>Algorithm: Delete Song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5303520" cy="5303520"/>
          </a:xfrm>
          <a:prstGeom prst="rect">
            <a:avLst/>
          </a:prstGeom>
          <a:solidFill>
            <a:srgbClr val="1E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  <a:latin typeface="Calibri"/>
              </a:rPr>
              <a:t>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onsolas"/>
              </a:rPr>
              <a:t>1. Input song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0078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onsolas"/>
              </a:rPr>
              <a:t>2. Set temp = head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7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onsolas"/>
              </a:rPr>
              <a:t>3. Traverse the list: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5915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A261"/>
                </a:solidFill>
                <a:latin typeface="Consolas"/>
              </a:rPr>
              <a:t>   If song found: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8833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A261"/>
                </a:solidFill>
                <a:latin typeface="Consolas"/>
              </a:rPr>
              <a:t>     If only 1 node: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CAE4"/>
                </a:solidFill>
                <a:latin typeface="Consolas"/>
              </a:rPr>
              <a:t>       head=tail=current=NULL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4670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A261"/>
                </a:solidFill>
                <a:latin typeface="Consolas"/>
              </a:rPr>
              <a:t>     If deleting head: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75887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CAE4"/>
                </a:solidFill>
                <a:latin typeface="Consolas"/>
              </a:rPr>
              <a:t>       head = head→next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050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CAE4"/>
                </a:solidFill>
                <a:latin typeface="Consolas"/>
              </a:rPr>
              <a:t>       head→prev = NULL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3425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A261"/>
                </a:solidFill>
                <a:latin typeface="Consolas"/>
              </a:rPr>
              <a:t>     If deleting tail: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63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CAE4"/>
                </a:solidFill>
                <a:latin typeface="Consolas"/>
              </a:rPr>
              <a:t>       tail = tail→prev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9262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CAE4"/>
                </a:solidFill>
                <a:latin typeface="Consolas"/>
              </a:rPr>
              <a:t>       tail→next = NULL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2180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A261"/>
                </a:solidFill>
                <a:latin typeface="Consolas"/>
              </a:rPr>
              <a:t>     Else: link prev &amp; next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6509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onsolas"/>
              </a:rPr>
              <a:t>     Update current safely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914400"/>
            <a:ext cx="5760720" cy="5303520"/>
          </a:xfrm>
          <a:prstGeom prst="rect">
            <a:avLst/>
          </a:prstGeom>
          <a:solidFill>
            <a:srgbClr val="0D1B2A"/>
          </a:solidFill>
          <a:ln w="127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4768" y="102412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CAE4"/>
                </a:solidFill>
                <a:latin typeface="Consolas"/>
              </a:rPr>
              <a:t>void deleteSong(string name){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128930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nsolas"/>
              </a:rPr>
              <a:t>  Song* temp = head;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768" y="155448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A261"/>
                </a:solidFill>
                <a:latin typeface="Consolas"/>
              </a:rPr>
              <a:t>  while (temp != NULL) {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181965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A261"/>
                </a:solidFill>
                <a:latin typeface="Consolas"/>
              </a:rPr>
              <a:t>   if(temp-&gt;title == name){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208483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onsolas"/>
              </a:rPr>
              <a:t>    if(temp==head){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235000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CAE4"/>
                </a:solidFill>
                <a:latin typeface="Consolas"/>
              </a:rPr>
              <a:t>     head=temp-&gt;next;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44768" y="261518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CAE4"/>
                </a:solidFill>
                <a:latin typeface="Consolas"/>
              </a:rPr>
              <a:t>     if(head) head-&gt;prev=NULL;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288036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onsolas"/>
              </a:rPr>
              <a:t>    } else if(temp==tail){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4768" y="314553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CAE4"/>
                </a:solidFill>
                <a:latin typeface="Consolas"/>
              </a:rPr>
              <a:t>     tail=temp-&gt;prev;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341071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CAE4"/>
                </a:solidFill>
                <a:latin typeface="Consolas"/>
              </a:rPr>
              <a:t>     if(tail) tail-&gt;next=NULL;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44768" y="3675887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onsolas"/>
              </a:rPr>
              <a:t>    } else {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394106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CAE4"/>
                </a:solidFill>
                <a:latin typeface="Consolas"/>
              </a:rPr>
              <a:t>     temp-&gt;prev-&gt;next=temp-&gt;next;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4768" y="420624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CAE4"/>
                </a:solidFill>
                <a:latin typeface="Consolas"/>
              </a:rPr>
              <a:t>     temp-&gt;next-&gt;prev=temp-&gt;prev;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447141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onsolas"/>
              </a:rPr>
              <a:t>    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73659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A261"/>
                </a:solidFill>
                <a:latin typeface="Consolas"/>
              </a:rPr>
              <a:t>    if(current==temp)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00176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CAE4"/>
                </a:solidFill>
                <a:latin typeface="Consolas"/>
              </a:rPr>
              <a:t>     current=temp-&gt;next?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44768" y="526694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CAE4"/>
                </a:solidFill>
                <a:latin typeface="Consolas"/>
              </a:rPr>
              <a:t>       temp-&gt;next:temp-&gt;prev;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44768" y="553212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76F"/>
                </a:solidFill>
                <a:latin typeface="Consolas"/>
              </a:rPr>
              <a:t>    delete temp; return;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  <a:latin typeface="Calibri"/>
              </a:rPr>
              <a:t>Program Flowchart</a:t>
            </a:r>
          </a:p>
        </p:txBody>
      </p:sp>
      <p:pic>
        <p:nvPicPr>
          <p:cNvPr id="4" name="Picture 3" descr="WhatsApp_Image_2026-04-20_at_6_31_35_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1832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  <a:latin typeface="Calibri"/>
              </a:rPr>
              <a:t>Complete Code — main() &amp; Input Handling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11430000" cy="5303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1556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8CAE4"/>
                </a:solidFill>
                <a:latin typeface="Consolas"/>
              </a:rPr>
              <a:t>int main() {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1556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onsolas"/>
              </a:rPr>
              <a:t>  string line, name;  int choice;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1556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4A261"/>
                </a:solidFill>
                <a:latin typeface="Consolas"/>
              </a:rPr>
              <a:t>  while (true) {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11556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C4DE"/>
                </a:solidFill>
                <a:latin typeface="Consolas"/>
              </a:rPr>
              <a:t>    cout &lt;&lt; "1.Add 2.Display 3.Play";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21408"/>
            <a:ext cx="111556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C4DE"/>
                </a:solidFill>
                <a:latin typeface="Consolas"/>
              </a:rPr>
              <a:t>    cout &lt;&lt; "4.Next 5.Prev 6.Del 7.Exit";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111556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C65E"/>
                </a:solidFill>
                <a:latin typeface="Consolas"/>
              </a:rPr>
              <a:t>    getline(cin, line);   // No cin&gt;&gt; used!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1556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8CAE4"/>
                </a:solidFill>
                <a:latin typeface="Consolas"/>
              </a:rPr>
              <a:t>    choice = line.empty() ? 0 : line[0]-'0';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44368"/>
            <a:ext cx="111556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4A261"/>
                </a:solidFill>
                <a:latin typeface="Consolas"/>
              </a:rPr>
              <a:t>    switch(choice) {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18688"/>
            <a:ext cx="111556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onsolas"/>
              </a:rPr>
              <a:t>      case 1: getline(cin,name); addSong(name); break;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93008"/>
            <a:ext cx="111556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onsolas"/>
              </a:rPr>
              <a:t>      case 2: display();   break;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67328"/>
            <a:ext cx="111556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onsolas"/>
              </a:rPr>
              <a:t>      case 3: playCurrent(); break;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041648"/>
            <a:ext cx="111556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onsolas"/>
              </a:rPr>
              <a:t>      case 4: nextSong();  break;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15968"/>
            <a:ext cx="111556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onsolas"/>
              </a:rPr>
              <a:t>      case 5: prevSong();  break;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90288"/>
            <a:ext cx="111556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onsolas"/>
              </a:rPr>
              <a:t>      case 6: getline(cin,name); deleteSong(name); break;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864608"/>
            <a:ext cx="111556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F476F"/>
                </a:solidFill>
                <a:latin typeface="Consolas"/>
              </a:rPr>
              <a:t>      case 7: return 0;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138928"/>
            <a:ext cx="111556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4A261"/>
                </a:solidFill>
                <a:latin typeface="Consolas"/>
              </a:rPr>
              <a:t>      default: cout &lt;&lt; "Invalid option\n";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413248"/>
            <a:ext cx="111556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4A261"/>
                </a:solidFill>
                <a:latin typeface="Consolas"/>
              </a:rPr>
              <a:t>    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687568"/>
            <a:ext cx="111556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4A261"/>
                </a:solidFill>
                <a:latin typeface="Consolas"/>
              </a:rPr>
              <a:t>  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  <a:latin typeface="Calibri"/>
              </a:rPr>
              <a:t>Key fix: getline() used everywhere — no cin&gt;&gt; — supports multi-word song names!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  <a:latin typeface="Calibri"/>
              </a:rPr>
              <a:t>Features &amp; Sample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2011680" cy="59436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033271"/>
            <a:ext cx="1965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Add Song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1005840"/>
            <a:ext cx="8961120" cy="594360"/>
          </a:xfrm>
          <a:prstGeom prst="rect">
            <a:avLst/>
          </a:prstGeom>
          <a:solidFill>
            <a:srgbClr val="1E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97480" y="1033271"/>
            <a:ext cx="8686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Calibri"/>
              </a:rPr>
              <a:t>Supports multi-word names like 'Shape of You'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10512"/>
            <a:ext cx="2011680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837943"/>
            <a:ext cx="1965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Display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1810512"/>
            <a:ext cx="8961120" cy="594360"/>
          </a:xfrm>
          <a:prstGeom prst="rect">
            <a:avLst/>
          </a:prstGeom>
          <a:solidFill>
            <a:srgbClr val="1E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1837943"/>
            <a:ext cx="8686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Calibri"/>
              </a:rPr>
              <a:t>Shows entire playlist, marks current with &gt;&gt;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15184"/>
            <a:ext cx="2011680" cy="59436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642615"/>
            <a:ext cx="1965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Play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2615184"/>
            <a:ext cx="8961120" cy="594360"/>
          </a:xfrm>
          <a:prstGeom prst="rect">
            <a:avLst/>
          </a:prstGeom>
          <a:solidFill>
            <a:srgbClr val="1E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2642615"/>
            <a:ext cx="8686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Calibri"/>
              </a:rPr>
              <a:t>Prints the currently playing song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419856"/>
            <a:ext cx="2011680" cy="5943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3447288"/>
            <a:ext cx="1965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Next / Prev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3419856"/>
            <a:ext cx="8961120" cy="594360"/>
          </a:xfrm>
          <a:prstGeom prst="rect">
            <a:avLst/>
          </a:prstGeom>
          <a:solidFill>
            <a:srgbClr val="1E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97480" y="3447288"/>
            <a:ext cx="8686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Calibri"/>
              </a:rPr>
              <a:t>Navigate forward and backward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224528"/>
            <a:ext cx="2011680" cy="59436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4251960"/>
            <a:ext cx="1965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Delete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0" y="4224528"/>
            <a:ext cx="8961120" cy="594360"/>
          </a:xfrm>
          <a:prstGeom prst="rect">
            <a:avLst/>
          </a:prstGeom>
          <a:solidFill>
            <a:srgbClr val="1E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97480" y="4251960"/>
            <a:ext cx="8686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Calibri"/>
              </a:rPr>
              <a:t>Removes song, safely updates current pointer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074920"/>
            <a:ext cx="1143000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1023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Sample 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3949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onsolas"/>
              </a:rPr>
              <a:t>  Playlist:
      Blinding Lights
   &gt;&gt; Shape of You  (current)
      Hotel California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1247120" cy="1280160"/>
          </a:xfrm>
          <a:prstGeom prst="rect">
            <a:avLst/>
          </a:prstGeom>
          <a:solidFill>
            <a:srgbClr val="1E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00B4D8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0C4DE"/>
                </a:solidFill>
                <a:latin typeface="Calibri"/>
              </a:rPr>
              <a:t>Playlist Manager using Doubly Linked List — C++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017520"/>
            <a:ext cx="11247120" cy="2560320"/>
          </a:xfrm>
          <a:prstGeom prst="rect">
            <a:avLst/>
          </a:prstGeom>
          <a:solidFill>
            <a:srgbClr val="1E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090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8CAE4"/>
                </a:solidFill>
                <a:latin typeface="Calibri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  <a:latin typeface="Calibri"/>
              </a:rPr>
              <a:t>✦  Doubly Linked List enables O(1) navigation between adjacent songs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050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  <a:latin typeface="Calibri"/>
              </a:rPr>
              <a:t>✦  Three global pointers (head, tail, current) manage the full playlist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8970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  <a:latin typeface="Calibri"/>
              </a:rPr>
              <a:t>✦  getline() input handling supports real-world song names with spaces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74336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  <a:latin typeface="Calibri"/>
              </a:rPr>
              <a:t>✦  Delete logic safely handles head, tail, middle, and current node cases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github.com  |  C++  |  Data Structures  |  DSA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